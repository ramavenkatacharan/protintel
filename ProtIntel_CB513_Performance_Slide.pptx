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C0"/>
                </a:solidFill>
              </a:defRPr>
            </a:pPr>
            <a:r>
              <a:t>PROTINTEL EVALUATION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Model Performance — CB513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Independently verified via fresh evaluation on the CB513 held-out test set — 514 proteins never seen during 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577840" cy="3429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QUANTITATIVE METRIC COMPARISON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267712"/>
          <a:ext cx="52120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371600"/>
                <a:gridCol w="1188720"/>
              </a:tblGrid>
              <a:tr h="5577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9C0"/>
                          </a:solidFill>
                        </a:defRPr>
                      </a:pPr>
                      <a:r>
                        <a:t>Optimized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Q3 Accuracy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69.42%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69.94%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D9C0"/>
                          </a:solidFill>
                        </a:defRPr>
                      </a:pPr>
                      <a:r>
                        <a:t>+0.52 pts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Q8 Accuracy</a:t>
                      </a:r>
                    </a:p>
                  </a:txBody>
                  <a:tcPr>
                    <a:solidFill>
                      <a:srgbClr val="1A23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34.03%</a:t>
                      </a:r>
                    </a:p>
                  </a:txBody>
                  <a:tcPr>
                    <a:solidFill>
                      <a:srgbClr val="1A23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D9C0"/>
                          </a:solidFill>
                        </a:defRPr>
                      </a:pPr>
                      <a:r>
                        <a:t>44.28%</a:t>
                      </a:r>
                    </a:p>
                  </a:txBody>
                  <a:tcPr>
                    <a:solidFill>
                      <a:srgbClr val="1A23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D9C0"/>
                          </a:solidFill>
                        </a:defRPr>
                      </a:pPr>
                      <a:r>
                        <a:t>+10.25 pts</a:t>
                      </a:r>
                    </a:p>
                  </a:txBody>
                  <a:tcPr>
                    <a:solidFill>
                      <a:srgbClr val="1A233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Q3 MCC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0.527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0.539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D9C0"/>
                          </a:solidFill>
                        </a:defRPr>
                      </a:pPr>
                      <a:r>
                        <a:t>+0.012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Q8 Macro F1</a:t>
                      </a:r>
                    </a:p>
                  </a:txBody>
                  <a:tcPr>
                    <a:solidFill>
                      <a:srgbClr val="1A23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23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30.77%</a:t>
                      </a:r>
                    </a:p>
                  </a:txBody>
                  <a:tcPr>
                    <a:solidFill>
                      <a:srgbClr val="1A23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A2338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chart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67935" cy="30133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440680"/>
            <a:ext cx="10728655" cy="960120"/>
          </a:xfrm>
          <a:prstGeom prst="roundRect">
            <a:avLst/>
          </a:prstGeom>
          <a:solidFill>
            <a:srgbClr val="171930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164592" cy="960120"/>
          </a:xfrm>
          <a:prstGeom prst="round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53212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D9C0"/>
                </a:solidFill>
              </a:defRPr>
            </a:pPr>
            <a:r>
              <a:t>KEY ARCHITECTURAL HIGHLIGHT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7790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8FAFC"/>
                </a:solidFill>
              </a:defRPr>
            </a:pPr>
            <a:r>
              <a:t>+10.25 point improvement in Q8 (8-class) accuracy through class-weighted loss addressing severe data imbalance.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